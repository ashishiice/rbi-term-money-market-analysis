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0972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🏛️ RBI Term Money Market Expansion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65760" y="347472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Impact Analysis for Hero FinCorp | April 9,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772400" y="1828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NBFC-ML Treasury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713232"/>
            <a:ext cx="2148840" cy="5486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768096"/>
            <a:ext cx="1965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15-40 bps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1005840"/>
            <a:ext cx="1965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💰 Cost Savings vs Bank Credit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633472" y="713232"/>
            <a:ext cx="2148840" cy="5486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24912" y="768096"/>
            <a:ext cx="1965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₹3-12 Cr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2724912" y="1005840"/>
            <a:ext cx="1965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📈 Annual Interest Savings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901184" y="713232"/>
            <a:ext cx="2148840" cy="5486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92624" y="768096"/>
            <a:ext cx="1965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92624" y="1005840"/>
            <a:ext cx="1965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🔓 No Bank Intermediary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7168896" y="713232"/>
            <a:ext cx="2148840" cy="5486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260336" y="768096"/>
            <a:ext cx="1965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10-15%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7260336" y="1005840"/>
            <a:ext cx="1965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Target Funding Mix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365760" y="1353312"/>
            <a:ext cx="4434840" cy="1371600"/>
          </a:xfrm>
          <a:prstGeom prst="roundRect">
            <a:avLst>
              <a:gd name="adj" fmla="val 2667"/>
            </a:avLst>
          </a:prstGeom>
          <a:solidFill>
            <a:srgbClr val="FEF2F2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65760" y="1353312"/>
            <a:ext cx="4434840" cy="25603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1389888"/>
            <a:ext cx="4251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PRE-EXPANSION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7200" y="1664208"/>
            <a:ext cx="4251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7F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Term money restricted to banks &amp; PDs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7F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NBFCs dependent on bank intermediation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7F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Limited 6M-1Y price transparency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7F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ALM gaps from tenor mismatches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7F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Bank funding concentration (70-75%)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983480" y="1353312"/>
            <a:ext cx="4434840" cy="1371600"/>
          </a:xfrm>
          <a:prstGeom prst="roundRect">
            <a:avLst>
              <a:gd name="adj" fmla="val 2667"/>
            </a:avLst>
          </a:prstGeom>
          <a:solidFill>
            <a:srgbClr val="F0FDF4"/>
          </a:solidFill>
          <a:ln w="19050">
            <a:solidFill>
              <a:srgbClr val="16A34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983480" y="1353312"/>
            <a:ext cx="4434840" cy="256032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4" name="Text 22"/>
          <p:cNvSpPr/>
          <p:nvPr/>
        </p:nvSpPr>
        <p:spPr>
          <a:xfrm>
            <a:off x="5074920" y="1389888"/>
            <a:ext cx="4251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POST-EXPANSION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074920" y="1664208"/>
            <a:ext cx="4251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45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Direct NBFC participation in term market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45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Reduced bank costs (15-40 bps savings)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45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Market-driven rates (MIBOR-linked)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45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Flexible tenor: 14D to 1Y for ALM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45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Diversified funding (target 60-65% bank)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65760" y="2834640"/>
            <a:ext cx="4754880" cy="123444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834640"/>
            <a:ext cx="4754880" cy="237744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2871216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Strategic Benefits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48640" y="315468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ALM Optimization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Granular tenor for 2W/3W portfolios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2743200" y="315468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⚡ Liquidity Buffer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LCR source without bank dependence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548640" y="361188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💹 Rate Transmission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MIBOR-linked vs slower MCLR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2743200" y="361188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🔄 Roll-over Efficiency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Reduced risk vs short-term CP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5257800" y="2834640"/>
            <a:ext cx="3246120" cy="1234440"/>
          </a:xfrm>
          <a:prstGeom prst="roundRect">
            <a:avLst>
              <a:gd name="adj" fmla="val 2963"/>
            </a:avLst>
          </a:prstGeom>
          <a:solidFill>
            <a:srgbClr val="FFFBEB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257800" y="2834640"/>
            <a:ext cx="3246120" cy="23774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5" name="Text 33"/>
          <p:cNvSpPr/>
          <p:nvPr/>
        </p:nvSpPr>
        <p:spPr>
          <a:xfrm>
            <a:off x="5349240" y="2871216"/>
            <a:ext cx="30632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⚡ Immediate Actions (30 Days)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394960" y="3182112"/>
            <a:ext cx="411480" cy="146304"/>
          </a:xfrm>
          <a:prstGeom prst="roundRect">
            <a:avLst>
              <a:gd name="adj" fmla="val 12500"/>
            </a:avLst>
          </a:prstGeom>
          <a:solidFill>
            <a:srgbClr val="DC2626"/>
          </a:solidFill>
          <a:ln/>
        </p:spPr>
      </p:sp>
      <p:sp>
        <p:nvSpPr>
          <p:cNvPr id="37" name="Text 35"/>
          <p:cNvSpPr/>
          <p:nvPr/>
        </p:nvSpPr>
        <p:spPr>
          <a:xfrm>
            <a:off x="5394960" y="3182112"/>
            <a:ext cx="4114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5897880" y="3182112"/>
            <a:ext cx="24688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CCIL/NDS-OM Registration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94960" y="3401568"/>
            <a:ext cx="411480" cy="146304"/>
          </a:xfrm>
          <a:prstGeom prst="roundRect">
            <a:avLst>
              <a:gd name="adj" fmla="val 12500"/>
            </a:avLst>
          </a:prstGeom>
          <a:solidFill>
            <a:srgbClr val="DC2626"/>
          </a:solidFill>
          <a:ln/>
        </p:spPr>
      </p:sp>
      <p:sp>
        <p:nvSpPr>
          <p:cNvPr id="40" name="Text 38"/>
          <p:cNvSpPr/>
          <p:nvPr/>
        </p:nvSpPr>
        <p:spPr>
          <a:xfrm>
            <a:off x="5394960" y="3401568"/>
            <a:ext cx="4114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5897880" y="3401568"/>
            <a:ext cx="24688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 Treasury Policy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94960" y="3621024"/>
            <a:ext cx="411480" cy="146304"/>
          </a:xfrm>
          <a:prstGeom prst="roundRect">
            <a:avLst>
              <a:gd name="adj" fmla="val 12500"/>
            </a:avLst>
          </a:prstGeom>
          <a:solidFill>
            <a:srgbClr val="D97706"/>
          </a:solidFill>
          <a:ln/>
        </p:spPr>
      </p:sp>
      <p:sp>
        <p:nvSpPr>
          <p:cNvPr id="43" name="Text 41"/>
          <p:cNvSpPr/>
          <p:nvPr/>
        </p:nvSpPr>
        <p:spPr>
          <a:xfrm>
            <a:off x="5394960" y="3621024"/>
            <a:ext cx="4114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5897880" y="3621024"/>
            <a:ext cx="24688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Trading Infrastructure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0" y="4206240"/>
            <a:ext cx="9144000" cy="29260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6" name="Text 44"/>
          <p:cNvSpPr/>
          <p:nvPr/>
        </p:nvSpPr>
        <p:spPr>
          <a:xfrm>
            <a:off x="365760" y="4233672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Hero FinCorp Treasury | RBI Circular: April 9, 2026 | Internal Use Only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365760" y="4370832"/>
            <a:ext cx="7315200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Projections are estimates. Actual savings depend on credit rating, market depth, and participation scale.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RBI Term Money Market - Hero FinCorp Impact</dc:title>
  <dc:subject>Treasury Strategy Analysis</dc:subject>
  <dc:creator>Hero FinCorp Treasury</dc:creator>
  <cp:lastModifiedBy>Hero FinCorp Treasury</cp:lastModifiedBy>
  <cp:revision>1</cp:revision>
  <dcterms:created xsi:type="dcterms:W3CDTF">2026-04-10T06:38:15Z</dcterms:created>
  <dcterms:modified xsi:type="dcterms:W3CDTF">2026-04-10T06:38:15Z</dcterms:modified>
</cp:coreProperties>
</file>