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Term Money Market Expansion — Hero FinCorp Impact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914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0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9,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502920"/>
            <a:ext cx="1965960" cy="45720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557784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15-40 bps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758952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Savings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59152" y="502920"/>
            <a:ext cx="1965960" cy="457200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0592" y="557784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₹3-12 Cr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50592" y="758952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Savings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443984" y="502920"/>
            <a:ext cx="1965960" cy="4572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35424" y="557784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35424" y="758952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Access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528816" y="502920"/>
            <a:ext cx="1965960" cy="45720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0256" y="557784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10-15%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20256" y="758952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Mix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1051560"/>
            <a:ext cx="4114800" cy="1234440"/>
          </a:xfrm>
          <a:prstGeom prst="roundRect">
            <a:avLst>
              <a:gd name="adj" fmla="val 2222"/>
            </a:avLst>
          </a:prstGeom>
          <a:solidFill>
            <a:srgbClr val="FEF2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1051560"/>
            <a:ext cx="4114800" cy="21945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088136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PRE-EXPANSION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132588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Term money restricted to banks &amp; PDs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NBFCs dependent on bank intermediation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Limited 6M-1Y price transparency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Bank funding concentration: 70-75%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0" y="1051560"/>
            <a:ext cx="4114800" cy="123444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0" y="1051560"/>
            <a:ext cx="4114800" cy="21945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1088136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POST-EXPANSION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663440" y="132588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 NBFC participation enabled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15-40 bps cost savings expected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Flexible tenor: 14D to 1Y for ALM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Diversify: target 60-65% bank funding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2423160"/>
            <a:ext cx="4572000" cy="1143000"/>
          </a:xfrm>
          <a:prstGeom prst="roundRect">
            <a:avLst>
              <a:gd name="adj" fmla="val 24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2423160"/>
            <a:ext cx="4572000" cy="201168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2459736"/>
            <a:ext cx="4389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Benefits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2697480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 Optimization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" y="28346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Granular tenor matching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560320" y="2697480"/>
            <a:ext cx="2103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Liquidity Buffer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560320" y="28346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LCR without bank dependence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3108960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Transmission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11480" y="32461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MIBOR-linked vs MCLR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560320" y="3108960"/>
            <a:ext cx="2103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Roll-over Efficiency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risk vs CP rollover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029200" y="2423160"/>
            <a:ext cx="3566160" cy="1143000"/>
          </a:xfrm>
          <a:prstGeom prst="roundRect">
            <a:avLst>
              <a:gd name="adj" fmla="val 24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423160"/>
            <a:ext cx="3566160" cy="2011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8" name="Text 36"/>
          <p:cNvSpPr/>
          <p:nvPr/>
        </p:nvSpPr>
        <p:spPr>
          <a:xfrm>
            <a:off x="5120640" y="2459736"/>
            <a:ext cx="33832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(30 Days)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120640" y="2715768"/>
            <a:ext cx="347472" cy="13716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40" name="Text 38"/>
          <p:cNvSpPr/>
          <p:nvPr/>
        </p:nvSpPr>
        <p:spPr>
          <a:xfrm>
            <a:off x="5120640" y="2715768"/>
            <a:ext cx="34747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559552" y="2715768"/>
            <a:ext cx="2834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CCIL/NDS-OM Registration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120640" y="2907792"/>
            <a:ext cx="347472" cy="13716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43" name="Text 41"/>
          <p:cNvSpPr/>
          <p:nvPr/>
        </p:nvSpPr>
        <p:spPr>
          <a:xfrm>
            <a:off x="5120640" y="2907792"/>
            <a:ext cx="34747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559552" y="2907792"/>
            <a:ext cx="2834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Treasury Policy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120640" y="3099816"/>
            <a:ext cx="347472" cy="13716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46" name="Text 44"/>
          <p:cNvSpPr/>
          <p:nvPr/>
        </p:nvSpPr>
        <p:spPr>
          <a:xfrm>
            <a:off x="5120640" y="3099816"/>
            <a:ext cx="34747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559552" y="3099816"/>
            <a:ext cx="2834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Infrastructure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0" y="4617720"/>
            <a:ext cx="9144000" cy="27432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49" name="Text 47"/>
          <p:cNvSpPr/>
          <p:nvPr/>
        </p:nvSpPr>
        <p:spPr>
          <a:xfrm>
            <a:off x="274320" y="4645152"/>
            <a:ext cx="82296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FinCorp Treasury | RBI Circular: April 9, 2026 | Internal Use Only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74320" y="4754880"/>
            <a:ext cx="82296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are estimates based on market conditions.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RBI Term Money Market - Hero FinCorp Impact</dc:title>
  <dc:subject>Treasury Strategy Analysis</dc:subject>
  <dc:creator>Hero FinCorp Treasury</dc:creator>
  <cp:lastModifiedBy>Hero FinCorp Treasury</cp:lastModifiedBy>
  <cp:revision>1</cp:revision>
  <dcterms:created xsi:type="dcterms:W3CDTF">2026-04-10T06:49:05Z</dcterms:created>
  <dcterms:modified xsi:type="dcterms:W3CDTF">2026-04-10T06:49:05Z</dcterms:modified>
</cp:coreProperties>
</file>